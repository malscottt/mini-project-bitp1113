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2"/>
  </p:notesMasterIdLst>
  <p:sldIdLst>
    <p:sldId id="256" r:id="rId3"/>
    <p:sldId id="257" r:id="rId4"/>
    <p:sldId id="258" r:id="rId5"/>
    <p:sldId id="259" r:id="rId6"/>
    <p:sldId id="260" r:id="rId7"/>
    <p:sldId id="261" r:id="rId8"/>
    <p:sldId id="262" r:id="rId9"/>
    <p:sldId id="263" r:id="rId10"/>
    <p:sldId id="264"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462" y="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Welcome to the Proposal Overview. This presentation outlines the background, methodology, and expected outcomes of our Book Borrowing System project. We aim to demonstrate the academic and practical value of transitioning from manual to digital library management.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We begin with an introduction to the Book Borrowing System. This slide defines our solution as a C++ console application designed to replace manual logbooks. We highlight four key pillars: data validation, accurate duration tracking, automated overdue flagging, and precise fine calculation.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project is motivated by the need to modernize library operations. Manual systems are often disorganized and error-prone, especially with date calculations. We aim to solve this by creating a reliable C++ system that automates these processes for librarians and borrowers.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objectives directly target the issues found in manual systems. By validating inputs, we prevent impossible dates; our duration algorithms ensure correct calculations; automated tracking guarantees consistent policy enforcement; and automatic fine computation ensures fast, error-free billing.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This slide illustrates the System Design using the Input-Process-Output model. In the Input phase, we collect essential data such as Customer Name and Borrowing Dates. The Process phase is where the core logic resides: we validate inputs for accuracy, calculate durations accounting for leap years, and determine overdue status based on the 7-day rule. Finally, the Output phase provides a clear summary and precise fine calculation, ensuring transparent billing for the user.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Briefly walk through the flow from Start → Input/Validation → Borrow &amp; Return loops → Overdue check → Fine calculation → Summary &amp; totals.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Introduce the upcoming review of the C++ source code: structure, validation functions, date calculations, and fine logic.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In conclusion, the project successfully systematized library transactions, proving that digital solutions can effectively eliminate human error and enforce policies fairly. This lays the groundwork for future enhancements like database integration.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Thank you for your time. This concludes our proposal presentation. I am happy to address any questions regarding the methodology or expected outcomes.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0" tIns="0" rIns="0" bIns="0" rtlCol="0" anchor="ctr" anchorCtr="0">
            <a:normAutofit/>
          </a:bodyPr>
          <a:lstStyle/>
          <a:p>
            <a:pPr algn="ctr">
              <a:defRPr/>
            </a:pPr>
            <a:endParaRPr/>
          </a:p>
        </p:txBody>
      </p:sp>
      <p:sp>
        <p:nvSpPr>
          <p:cNvPr id="3" name="AutoShape 3"/>
          <p:cNvSpPr/>
          <p:nvPr/>
        </p:nvSpPr>
        <p:spPr>
          <a:xfrm>
            <a:off x="1016000" y="2286000"/>
            <a:ext cx="10160000" cy="2540000"/>
          </a:xfrm>
          <a:prstGeom prst="rect">
            <a:avLst/>
          </a:prstGeom>
          <a:noFill/>
          <a:ln w="12700" cap="flat" cmpd="sng">
            <a:noFill/>
            <a:prstDash val="solid"/>
            <a:round/>
          </a:ln>
        </p:spPr>
        <p:txBody>
          <a:bodyPr vert="horz" wrap="square" lIns="0" tIns="0" rIns="0" bIns="0" rtlCol="0" anchor="ctr" anchorCtr="0">
            <a:normAutofit/>
          </a:bodyPr>
          <a:lstStyle/>
          <a:p>
            <a:pPr indent="0" algn="l">
              <a:lnSpc>
                <a:spcPct val="108333"/>
              </a:lnSpc>
              <a:defRPr/>
            </a:pPr>
            <a:r>
              <a:rPr lang="en-US" sz="4200" b="1" i="0" u="none" strike="noStrike" dirty="0">
                <a:solidFill>
                  <a:srgbClr val="FFFFFF"/>
                </a:solidFill>
                <a:latin typeface="Merriweather"/>
                <a:ea typeface="Merriweather"/>
                <a:cs typeface="Merriweather"/>
                <a:sym typeface="Merriweather"/>
              </a:rPr>
              <a:t>Book Borrowing System</a:t>
            </a:r>
            <a:endParaRPr lang="en-US" sz="1100" dirty="0"/>
          </a:p>
          <a:p>
            <a:pPr indent="0" algn="l">
              <a:lnSpc>
                <a:spcPct val="108333"/>
              </a:lnSpc>
            </a:pPr>
            <a:endParaRPr lang="en-US" sz="2400" dirty="0">
              <a:solidFill>
                <a:srgbClr val="FFFFFF">
                  <a:alpha val="90196"/>
                </a:srgbClr>
              </a:solidFill>
              <a:latin typeface="Merriweather"/>
              <a:ea typeface="Merriweather"/>
              <a:cs typeface="Merriweather"/>
              <a:sym typeface="Merriweather"/>
            </a:endParaRPr>
          </a:p>
          <a:p>
            <a:pPr indent="0" algn="l">
              <a:lnSpc>
                <a:spcPct val="108333"/>
              </a:lnSpc>
            </a:pPr>
            <a:r>
              <a:rPr lang="en-US" sz="2400" b="0" i="0" u="none" strike="noStrike" dirty="0">
                <a:solidFill>
                  <a:srgbClr val="FFFFFF">
                    <a:alpha val="90196"/>
                  </a:srgbClr>
                </a:solidFill>
                <a:latin typeface="Merriweather"/>
                <a:ea typeface="Merriweather"/>
                <a:cs typeface="Merriweather"/>
                <a:sym typeface="Merriweather"/>
              </a:rPr>
              <a:t>BITP1113/BAXU1113</a:t>
            </a:r>
          </a:p>
          <a:p>
            <a:pPr indent="0" algn="l">
              <a:lnSpc>
                <a:spcPct val="108333"/>
              </a:lnSpc>
            </a:pPr>
            <a:r>
              <a:rPr lang="en-US" sz="1800" b="0" i="0" u="none" strike="noStrike" dirty="0">
                <a:solidFill>
                  <a:srgbClr val="FFFFFF">
                    <a:alpha val="80000"/>
                  </a:srgbClr>
                </a:solidFill>
                <a:latin typeface="Open Sans"/>
                <a:ea typeface="Open Sans"/>
                <a:cs typeface="Open Sans"/>
                <a:sym typeface="Open Sans"/>
              </a:rPr>
              <a:t>15 Jan 2026</a:t>
            </a:r>
          </a:p>
          <a:p>
            <a:pPr indent="0" algn="l">
              <a:lnSpc>
                <a:spcPct val="108333"/>
              </a:lnSpc>
            </a:pPr>
            <a:r>
              <a:rPr lang="en-US" sz="1800" b="0" i="0" u="none" strike="noStrike" dirty="0">
                <a:solidFill>
                  <a:srgbClr val="FFFFFF">
                    <a:alpha val="80000"/>
                  </a:srgbClr>
                </a:solidFill>
                <a:latin typeface="Open Sans"/>
                <a:ea typeface="Open Sans"/>
                <a:cs typeface="Open Sans"/>
                <a:sym typeface="Open Sans"/>
              </a:rPr>
              <a:t>Presenter: Boom Squad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C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762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3600" b="1" i="0" u="none" strike="noStrike">
                <a:solidFill>
                  <a:srgbClr val="3A5BC7"/>
                </a:solidFill>
                <a:latin typeface="Merriweather"/>
                <a:ea typeface="Merriweather"/>
                <a:cs typeface="Merriweather"/>
                <a:sym typeface="Merriweather"/>
              </a:rPr>
              <a:t>Introduction</a:t>
            </a:r>
            <a:endParaRPr lang="en-US" sz="1100"/>
          </a:p>
        </p:txBody>
      </p:sp>
      <p:sp>
        <p:nvSpPr>
          <p:cNvPr id="3" name="AutoShape 3"/>
          <p:cNvSpPr/>
          <p:nvPr/>
        </p:nvSpPr>
        <p:spPr>
          <a:xfrm>
            <a:off x="762000" y="2217338"/>
            <a:ext cx="5673414" cy="3895031"/>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0" i="0" u="none" strike="noStrike">
                <a:solidFill>
                  <a:srgbClr val="1F2329"/>
                </a:solidFill>
                <a:latin typeface="Noto Sans SC"/>
                <a:ea typeface="Noto Sans SC"/>
                <a:cs typeface="Noto Sans SC"/>
                <a:sym typeface="Noto Sans SC"/>
              </a:rPr>
              <a:t>The Book Borrowing System is a C++ program designed to upgrade library records from manual logbooks to a digital format. To ensure accuracy, the system uses Data Validation to block invalid dates and Fine Automation to instantly calculate penalties without doing math by hand. By automatically tracking the library's 7-day borrowing limit, this project eliminates human error and makes managing transactions much faster and more reliable.</a:t>
            </a:r>
            <a:endParaRPr lang="en-US" sz="1100"/>
          </a:p>
        </p:txBody>
      </p:sp>
      <p:sp>
        <p:nvSpPr>
          <p:cNvPr id="4" name="AutoShape 4"/>
          <p:cNvSpPr/>
          <p:nvPr/>
        </p:nvSpPr>
        <p:spPr>
          <a:xfrm>
            <a:off x="762000" y="1495480"/>
            <a:ext cx="10668000" cy="508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1700" b="0" i="1" u="none" strike="noStrike">
                <a:solidFill>
                  <a:srgbClr val="646464"/>
                </a:solidFill>
                <a:latin typeface="Merriweather"/>
                <a:ea typeface="Merriweather"/>
                <a:cs typeface="Merriweather"/>
                <a:sym typeface="Merriweather"/>
              </a:rPr>
              <a:t>A computerized C++ application designed to systematize the management of book transactions</a:t>
            </a:r>
            <a:endParaRPr lang="en-US" sz="1100"/>
          </a:p>
        </p:txBody>
      </p:sp>
      <p:pic>
        <p:nvPicPr>
          <p:cNvPr id="5" name="Picture 5"/>
          <p:cNvPicPr>
            <a:picLocks noChangeAspect="1"/>
          </p:cNvPicPr>
          <p:nvPr/>
        </p:nvPicPr>
        <p:blipFill>
          <a:blip r:embed="rId3"/>
          <a:stretch>
            <a:fillRect/>
          </a:stretch>
        </p:blipFill>
        <p:spPr>
          <a:xfrm>
            <a:off x="7196485" y="2003480"/>
            <a:ext cx="3895031" cy="3895031"/>
          </a:xfrm>
          <a:prstGeom prst="rect">
            <a:avLst/>
          </a:prstGeom>
          <a:ln>
            <a:noFill/>
            <a:prstDash val="solid"/>
          </a:ln>
        </p:spPr>
      </p:pic>
      <p:sp>
        <p:nvSpPr>
          <p:cNvPr id="6" name="AutoShape 6"/>
          <p:cNvSpPr/>
          <p:nvPr/>
        </p:nvSpPr>
        <p:spPr>
          <a:xfrm>
            <a:off x="6604000" y="5842000"/>
            <a:ext cx="5080000" cy="508000"/>
          </a:xfrm>
          <a:prstGeom prst="rect">
            <a:avLst/>
          </a:prstGeom>
          <a:noFill/>
          <a:ln w="12700" cap="flat" cmpd="sng">
            <a:noFill/>
            <a:prstDash val="solid"/>
            <a:round/>
          </a:ln>
        </p:spPr>
        <p:txBody>
          <a:bodyPr vert="horz" wrap="square" lIns="0" tIns="0" rIns="0" bIns="0" rtlCol="0" anchor="t" anchorCtr="0">
            <a:normAutofit/>
          </a:bodyPr>
          <a:lstStyle/>
          <a:p>
            <a:pPr indent="0" algn="ctr">
              <a:lnSpc>
                <a:spcPct val="125000"/>
              </a:lnSpc>
              <a:defRPr/>
            </a:pPr>
            <a:r>
              <a:rPr lang="en-US" sz="1200" b="0" i="0" u="none" strike="noStrike">
                <a:solidFill>
                  <a:srgbClr val="838383"/>
                </a:solidFill>
                <a:latin typeface="Open Sans"/>
                <a:ea typeface="Open Sans"/>
                <a:cs typeface="Open Sans"/>
                <a:sym typeface="Open Sans"/>
              </a:rPr>
              <a:t>Figure 1: Books</a:t>
            </a:r>
            <a:endParaRPr lang="en-US" sz="1100"/>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C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762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3600" b="1" i="0" u="none" strike="noStrike">
                <a:solidFill>
                  <a:srgbClr val="3A5BC7"/>
                </a:solidFill>
                <a:latin typeface="Merriweather"/>
                <a:ea typeface="Merriweather"/>
                <a:cs typeface="Merriweather"/>
                <a:sym typeface="Merriweather"/>
              </a:rPr>
              <a:t>Problem Statement</a:t>
            </a:r>
            <a:endParaRPr lang="en-US" sz="1100"/>
          </a:p>
        </p:txBody>
      </p:sp>
      <p:sp>
        <p:nvSpPr>
          <p:cNvPr id="3" name="AutoShape 3"/>
          <p:cNvSpPr/>
          <p:nvPr/>
        </p:nvSpPr>
        <p:spPr>
          <a:xfrm>
            <a:off x="762000" y="1524000"/>
            <a:ext cx="10668000" cy="508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1800" b="0" i="1" u="none" strike="noStrike">
                <a:solidFill>
                  <a:srgbClr val="646464"/>
                </a:solidFill>
                <a:latin typeface="Merriweather"/>
                <a:ea typeface="Merriweather"/>
                <a:cs typeface="Merriweather"/>
                <a:sym typeface="Merriweather"/>
              </a:rPr>
              <a:t>To understand the purposes of this project, we must first examine the problem statement.</a:t>
            </a:r>
            <a:endParaRPr lang="en-US" sz="1100"/>
          </a:p>
        </p:txBody>
      </p:sp>
      <p:sp>
        <p:nvSpPr>
          <p:cNvPr id="4" name="AutoShape 4"/>
          <p:cNvSpPr/>
          <p:nvPr/>
        </p:nvSpPr>
        <p:spPr>
          <a:xfrm>
            <a:off x="762000" y="2121978"/>
            <a:ext cx="10668000" cy="905472"/>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900" b="0" i="0" u="none" strike="noStrike" dirty="0">
                <a:solidFill>
                  <a:srgbClr val="1F2329"/>
                </a:solidFill>
                <a:latin typeface="Merriweather"/>
                <a:ea typeface="Merriweather"/>
                <a:cs typeface="Merriweather"/>
                <a:sym typeface="Merriweather"/>
              </a:rPr>
              <a:t>The current issue is the manual logbooks lack organization and librarians struggle with illegible handwriting.</a:t>
            </a:r>
            <a:endParaRPr lang="en-US" sz="1100" dirty="0"/>
          </a:p>
        </p:txBody>
      </p:sp>
      <p:sp>
        <p:nvSpPr>
          <p:cNvPr id="5" name="AutoShape 5"/>
          <p:cNvSpPr/>
          <p:nvPr/>
        </p:nvSpPr>
        <p:spPr>
          <a:xfrm>
            <a:off x="762000" y="3683767"/>
            <a:ext cx="2454584" cy="2452824"/>
          </a:xfrm>
          <a:prstGeom prst="roundRect">
            <a:avLst>
              <a:gd name="adj" fmla="val 4142"/>
            </a:avLst>
          </a:prstGeom>
          <a:solidFill>
            <a:srgbClr val="F0F0F0">
              <a:alpha val="100000"/>
            </a:srgbClr>
          </a:solidFill>
          <a:ln w="25400" cap="flat" cmpd="sng">
            <a:noFill/>
            <a:prstDash val="solid"/>
            <a:round/>
          </a:ln>
        </p:spPr>
        <p:txBody>
          <a:bodyPr vert="horz" wrap="square" lIns="0" tIns="0" rIns="0" bIns="0" rtlCol="0" anchor="ctr" anchorCtr="0">
            <a:normAutofit/>
          </a:bodyPr>
          <a:lstStyle/>
          <a:p>
            <a:pPr algn="ctr">
              <a:defRPr/>
            </a:pPr>
            <a:endParaRPr/>
          </a:p>
        </p:txBody>
      </p:sp>
      <p:sp>
        <p:nvSpPr>
          <p:cNvPr id="6" name="AutoShape 6"/>
          <p:cNvSpPr/>
          <p:nvPr/>
        </p:nvSpPr>
        <p:spPr>
          <a:xfrm>
            <a:off x="950814" y="3956303"/>
            <a:ext cx="2076956" cy="1907752"/>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1600" b="1" i="0" u="none" strike="noStrike" dirty="0">
                <a:solidFill>
                  <a:srgbClr val="3A5BC7"/>
                </a:solidFill>
                <a:latin typeface="Merriweather"/>
                <a:ea typeface="Merriweather"/>
                <a:cs typeface="Merriweather"/>
                <a:sym typeface="Merriweather"/>
              </a:rPr>
              <a:t>Lack of Data Validation</a:t>
            </a:r>
          </a:p>
          <a:p>
            <a:pPr indent="0" algn="l">
              <a:lnSpc>
                <a:spcPct val="125000"/>
              </a:lnSpc>
            </a:pPr>
            <a:r>
              <a:rPr lang="en-US" sz="1400" b="0" i="0" u="none" strike="noStrike" dirty="0">
                <a:solidFill>
                  <a:srgbClr val="646464"/>
                </a:solidFill>
                <a:latin typeface="Open Sans"/>
                <a:ea typeface="Open Sans"/>
                <a:cs typeface="Open Sans"/>
                <a:sym typeface="Open Sans"/>
              </a:rPr>
              <a:t>Manual recording systems often fail to detect invalid.</a:t>
            </a:r>
          </a:p>
        </p:txBody>
      </p:sp>
      <p:sp>
        <p:nvSpPr>
          <p:cNvPr id="7" name="AutoShape 7"/>
          <p:cNvSpPr/>
          <p:nvPr/>
        </p:nvSpPr>
        <p:spPr>
          <a:xfrm>
            <a:off x="3499805" y="3683767"/>
            <a:ext cx="2454584" cy="2452824"/>
          </a:xfrm>
          <a:prstGeom prst="roundRect">
            <a:avLst>
              <a:gd name="adj" fmla="val 4142"/>
            </a:avLst>
          </a:prstGeom>
          <a:solidFill>
            <a:srgbClr val="F0F0F0">
              <a:alpha val="100000"/>
            </a:srgbClr>
          </a:solidFill>
          <a:ln w="25400" cap="flat" cmpd="sng">
            <a:noFill/>
            <a:prstDash val="solid"/>
            <a:round/>
          </a:ln>
        </p:spPr>
        <p:txBody>
          <a:bodyPr vert="horz" wrap="square" lIns="0" tIns="0" rIns="0" bIns="0" rtlCol="0" anchor="ctr" anchorCtr="0">
            <a:normAutofit/>
          </a:bodyPr>
          <a:lstStyle/>
          <a:p>
            <a:pPr algn="ctr">
              <a:defRPr/>
            </a:pPr>
            <a:endParaRPr/>
          </a:p>
        </p:txBody>
      </p:sp>
      <p:sp>
        <p:nvSpPr>
          <p:cNvPr id="8" name="AutoShape 8"/>
          <p:cNvSpPr/>
          <p:nvPr/>
        </p:nvSpPr>
        <p:spPr>
          <a:xfrm>
            <a:off x="3688619" y="3956303"/>
            <a:ext cx="2076956" cy="1907752"/>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1600" b="1" i="0" u="none" strike="noStrike">
                <a:solidFill>
                  <a:srgbClr val="F76B15"/>
                </a:solidFill>
                <a:latin typeface="Merriweather"/>
                <a:ea typeface="Merriweather"/>
                <a:cs typeface="Merriweather"/>
                <a:sym typeface="Merriweather"/>
              </a:rPr>
              <a:t>Complex Data Calculations</a:t>
            </a:r>
            <a:endParaRPr lang="en-US" sz="1100"/>
          </a:p>
          <a:p>
            <a:pPr indent="0" algn="l">
              <a:lnSpc>
                <a:spcPct val="125000"/>
              </a:lnSpc>
            </a:pPr>
            <a:r>
              <a:rPr lang="en-US" sz="1400" b="0" i="0" u="none" strike="noStrike">
                <a:solidFill>
                  <a:srgbClr val="646464"/>
                </a:solidFill>
                <a:latin typeface="Open Sans"/>
                <a:ea typeface="Open Sans"/>
                <a:cs typeface="Open Sans"/>
                <a:sym typeface="Open Sans"/>
              </a:rPr>
              <a:t>Manually calculating the date prone to human error.</a:t>
            </a:r>
          </a:p>
        </p:txBody>
      </p:sp>
      <p:sp>
        <p:nvSpPr>
          <p:cNvPr id="9" name="AutoShape 9"/>
          <p:cNvSpPr/>
          <p:nvPr/>
        </p:nvSpPr>
        <p:spPr>
          <a:xfrm>
            <a:off x="6237611" y="3683767"/>
            <a:ext cx="2454584" cy="2452824"/>
          </a:xfrm>
          <a:prstGeom prst="roundRect">
            <a:avLst>
              <a:gd name="adj" fmla="val 4142"/>
            </a:avLst>
          </a:prstGeom>
          <a:solidFill>
            <a:srgbClr val="F0F0F0">
              <a:alpha val="100000"/>
            </a:srgbClr>
          </a:solidFill>
          <a:ln w="25400" cap="flat" cmpd="sng">
            <a:noFill/>
            <a:prstDash val="solid"/>
            <a:round/>
          </a:ln>
        </p:spPr>
        <p:txBody>
          <a:bodyPr vert="horz" wrap="square" lIns="0" tIns="0" rIns="0" bIns="0" rtlCol="0" anchor="ctr" anchorCtr="0">
            <a:normAutofit/>
          </a:bodyPr>
          <a:lstStyle/>
          <a:p>
            <a:pPr algn="ctr">
              <a:defRPr/>
            </a:pPr>
            <a:endParaRPr/>
          </a:p>
        </p:txBody>
      </p:sp>
      <p:sp>
        <p:nvSpPr>
          <p:cNvPr id="10" name="AutoShape 10"/>
          <p:cNvSpPr/>
          <p:nvPr/>
        </p:nvSpPr>
        <p:spPr>
          <a:xfrm>
            <a:off x="6426425" y="3956303"/>
            <a:ext cx="2076956" cy="1907752"/>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08333"/>
              </a:lnSpc>
              <a:defRPr/>
            </a:pPr>
            <a:r>
              <a:rPr lang="en-US" sz="1600" b="1" i="0" u="none" strike="noStrike">
                <a:solidFill>
                  <a:srgbClr val="0090FF"/>
                </a:solidFill>
                <a:latin typeface="Merriweather"/>
                <a:ea typeface="Merriweather"/>
                <a:cs typeface="Merriweather"/>
                <a:sym typeface="Merriweather"/>
              </a:rPr>
              <a:t>Manual Status Tracking</a:t>
            </a:r>
            <a:endParaRPr lang="en-US" sz="1100"/>
          </a:p>
          <a:p>
            <a:pPr indent="0" algn="l">
              <a:lnSpc>
                <a:spcPct val="108333"/>
              </a:lnSpc>
            </a:pPr>
            <a:r>
              <a:rPr lang="en-US" sz="1400" b="0" i="0" u="none" strike="noStrike">
                <a:solidFill>
                  <a:srgbClr val="646464"/>
                </a:solidFill>
                <a:latin typeface="Open Sans"/>
                <a:ea typeface="Open Sans"/>
                <a:cs typeface="Open Sans"/>
                <a:sym typeface="Open Sans"/>
              </a:rPr>
              <a:t>Identifying whether a book is </a:t>
            </a:r>
            <a:r>
              <a:rPr lang="en-US" sz="1400" b="1" i="0" u="none" strike="noStrike">
                <a:solidFill>
                  <a:srgbClr val="646464"/>
                </a:solidFill>
                <a:latin typeface="Open Sans"/>
                <a:ea typeface="Open Sans"/>
                <a:cs typeface="Open Sans"/>
                <a:sym typeface="Open Sans"/>
              </a:rPr>
              <a:t>On Time</a:t>
            </a:r>
            <a:r>
              <a:rPr lang="en-US" sz="1400" b="0" i="0" u="none" strike="noStrike">
                <a:solidFill>
                  <a:srgbClr val="646464"/>
                </a:solidFill>
                <a:latin typeface="Open Sans"/>
                <a:ea typeface="Open Sans"/>
                <a:cs typeface="Open Sans"/>
                <a:sym typeface="Open Sans"/>
              </a:rPr>
              <a:t> or </a:t>
            </a:r>
            <a:r>
              <a:rPr lang="en-US" sz="1400" b="1" i="0" u="none" strike="noStrike">
                <a:solidFill>
                  <a:srgbClr val="646464"/>
                </a:solidFill>
                <a:latin typeface="Open Sans"/>
                <a:ea typeface="Open Sans"/>
                <a:cs typeface="Open Sans"/>
                <a:sym typeface="Open Sans"/>
              </a:rPr>
              <a:t>Overdue</a:t>
            </a:r>
            <a:r>
              <a:rPr lang="en-US" sz="1400" b="0" i="0" u="none" strike="noStrike">
                <a:solidFill>
                  <a:srgbClr val="646464"/>
                </a:solidFill>
                <a:latin typeface="Open Sans"/>
                <a:ea typeface="Open Sans"/>
                <a:cs typeface="Open Sans"/>
                <a:sym typeface="Open Sans"/>
              </a:rPr>
              <a:t> requires the librarian to manually </a:t>
            </a:r>
            <a:br>
              <a:rPr lang="en-US" sz="1600" b="0" i="0" u="none" strike="noStrike">
                <a:solidFill>
                  <a:srgbClr val="1F2329"/>
                </a:solidFill>
                <a:latin typeface="Noto Sans SC"/>
                <a:ea typeface="Noto Sans SC"/>
                <a:cs typeface="Noto Sans SC"/>
                <a:sym typeface="Noto Sans SC"/>
              </a:rPr>
            </a:br>
            <a:r>
              <a:rPr lang="en-US" sz="1400" b="0" i="0" u="none" strike="noStrike">
                <a:solidFill>
                  <a:srgbClr val="646464"/>
                </a:solidFill>
                <a:latin typeface="Open Sans"/>
                <a:ea typeface="Open Sans"/>
                <a:cs typeface="Open Sans"/>
                <a:sym typeface="Open Sans"/>
              </a:rPr>
              <a:t>compare.</a:t>
            </a:r>
          </a:p>
        </p:txBody>
      </p:sp>
      <p:sp>
        <p:nvSpPr>
          <p:cNvPr id="11" name="AutoShape 11"/>
          <p:cNvSpPr/>
          <p:nvPr/>
        </p:nvSpPr>
        <p:spPr>
          <a:xfrm>
            <a:off x="8975416" y="3683767"/>
            <a:ext cx="2454584" cy="2452824"/>
          </a:xfrm>
          <a:prstGeom prst="roundRect">
            <a:avLst>
              <a:gd name="adj" fmla="val 4142"/>
            </a:avLst>
          </a:prstGeom>
          <a:solidFill>
            <a:srgbClr val="F0F0F0">
              <a:alpha val="100000"/>
            </a:srgbClr>
          </a:solidFill>
          <a:ln w="25400" cap="flat" cmpd="sng">
            <a:noFill/>
            <a:prstDash val="solid"/>
            <a:round/>
          </a:ln>
        </p:spPr>
        <p:txBody>
          <a:bodyPr vert="horz" wrap="square" lIns="0" tIns="0" rIns="0" bIns="0" rtlCol="0" anchor="ctr" anchorCtr="0">
            <a:normAutofit/>
          </a:bodyPr>
          <a:lstStyle/>
          <a:p>
            <a:pPr algn="ctr">
              <a:defRPr/>
            </a:pPr>
            <a:endParaRPr/>
          </a:p>
        </p:txBody>
      </p:sp>
      <p:sp>
        <p:nvSpPr>
          <p:cNvPr id="12" name="AutoShape 12"/>
          <p:cNvSpPr/>
          <p:nvPr/>
        </p:nvSpPr>
        <p:spPr>
          <a:xfrm>
            <a:off x="9164230" y="3956303"/>
            <a:ext cx="2076956" cy="1907752"/>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1600" b="1" i="0" u="none" strike="noStrike">
                <a:solidFill>
                  <a:srgbClr val="F98E8B"/>
                </a:solidFill>
                <a:latin typeface="Merriweather"/>
                <a:ea typeface="Merriweather"/>
                <a:cs typeface="Merriweather"/>
                <a:sym typeface="Merriweather"/>
              </a:rPr>
              <a:t>Inefficient FIne Assessment</a:t>
            </a:r>
            <a:endParaRPr lang="en-US" sz="1100"/>
          </a:p>
          <a:p>
            <a:pPr indent="0" algn="l">
              <a:lnSpc>
                <a:spcPct val="125000"/>
              </a:lnSpc>
            </a:pPr>
            <a:r>
              <a:rPr lang="en-US" sz="1400" b="0" i="0" u="none" strike="noStrike">
                <a:solidFill>
                  <a:srgbClr val="646464"/>
                </a:solidFill>
                <a:latin typeface="Open Sans"/>
                <a:ea typeface="Open Sans"/>
                <a:cs typeface="Open Sans"/>
                <a:sym typeface="Open Sans"/>
              </a:rPr>
              <a:t>Repetitive math slows down checkout and risks billing mistakes.</a:t>
            </a:r>
          </a:p>
        </p:txBody>
      </p:sp>
      <p:sp>
        <p:nvSpPr>
          <p:cNvPr id="13" name="AutoShape 13"/>
          <p:cNvSpPr/>
          <p:nvPr/>
        </p:nvSpPr>
        <p:spPr>
          <a:xfrm>
            <a:off x="762000" y="3048000"/>
            <a:ext cx="2374900" cy="381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1900" b="1" i="0" u="none" strike="noStrike" dirty="0">
                <a:solidFill>
                  <a:srgbClr val="1F2329"/>
                </a:solidFill>
                <a:latin typeface="Merriweather"/>
                <a:ea typeface="Merriweather"/>
                <a:cs typeface="Merriweather"/>
                <a:sym typeface="Merriweather"/>
              </a:rPr>
              <a:t>Specific Challenges:</a:t>
            </a:r>
            <a:endParaRPr lang="en-US" sz="1100" dirty="0"/>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C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762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3600" b="1" i="0" u="none" strike="noStrike">
                <a:solidFill>
                  <a:srgbClr val="3A5BC7"/>
                </a:solidFill>
                <a:latin typeface="Merriweather"/>
                <a:ea typeface="Merriweather"/>
                <a:cs typeface="Merriweather"/>
                <a:sym typeface="Merriweather"/>
              </a:rPr>
              <a:t>Project Objectives</a:t>
            </a:r>
            <a:endParaRPr lang="en-US" sz="1100"/>
          </a:p>
        </p:txBody>
      </p:sp>
      <p:sp>
        <p:nvSpPr>
          <p:cNvPr id="3" name="AutoShape 3"/>
          <p:cNvSpPr/>
          <p:nvPr/>
        </p:nvSpPr>
        <p:spPr>
          <a:xfrm>
            <a:off x="762000" y="1538452"/>
            <a:ext cx="10668000" cy="1404587"/>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1800" b="0" i="1" u="none" strike="noStrike" dirty="0">
                <a:solidFill>
                  <a:srgbClr val="646464"/>
                </a:solidFill>
                <a:latin typeface="Merriweather"/>
                <a:ea typeface="Merriweather"/>
                <a:cs typeface="Merriweather"/>
                <a:sym typeface="Merriweather"/>
              </a:rPr>
              <a:t>Following the problem statement, we define the goals that guide the solution.</a:t>
            </a:r>
            <a:endParaRPr lang="en-US" sz="1100" dirty="0"/>
          </a:p>
        </p:txBody>
      </p:sp>
      <p:sp>
        <p:nvSpPr>
          <p:cNvPr id="4" name="AutoShape 4"/>
          <p:cNvSpPr/>
          <p:nvPr/>
        </p:nvSpPr>
        <p:spPr>
          <a:xfrm>
            <a:off x="762000" y="3675369"/>
            <a:ext cx="2454584" cy="2452824"/>
          </a:xfrm>
          <a:prstGeom prst="roundRect">
            <a:avLst>
              <a:gd name="adj" fmla="val 4142"/>
            </a:avLst>
          </a:prstGeom>
          <a:solidFill>
            <a:srgbClr val="F0F0F0">
              <a:alpha val="100000"/>
            </a:srgbClr>
          </a:solidFill>
          <a:ln w="25400" cap="flat" cmpd="sng">
            <a:noFill/>
            <a:prstDash val="solid"/>
            <a:round/>
          </a:ln>
        </p:spPr>
        <p:txBody>
          <a:bodyPr vert="horz" wrap="square" lIns="0" tIns="0" rIns="0" bIns="0" rtlCol="0" anchor="ctr" anchorCtr="0">
            <a:normAutofit/>
          </a:bodyPr>
          <a:lstStyle/>
          <a:p>
            <a:pPr algn="ctr">
              <a:defRPr/>
            </a:pPr>
            <a:endParaRPr/>
          </a:p>
        </p:txBody>
      </p:sp>
      <p:sp>
        <p:nvSpPr>
          <p:cNvPr id="5" name="AutoShape 5"/>
          <p:cNvSpPr/>
          <p:nvPr/>
        </p:nvSpPr>
        <p:spPr>
          <a:xfrm>
            <a:off x="950814" y="3947905"/>
            <a:ext cx="2076956" cy="1907752"/>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1600" b="1" i="0" u="none" strike="noStrike" dirty="0">
                <a:solidFill>
                  <a:srgbClr val="3A5BC7"/>
                </a:solidFill>
                <a:latin typeface="Merriweather"/>
                <a:ea typeface="Merriweather"/>
                <a:cs typeface="Merriweather"/>
                <a:sym typeface="Merriweather"/>
              </a:rPr>
              <a:t>to design a robust input mechanism</a:t>
            </a:r>
          </a:p>
          <a:p>
            <a:pPr indent="0" algn="l">
              <a:lnSpc>
                <a:spcPct val="125000"/>
              </a:lnSpc>
            </a:pPr>
            <a:r>
              <a:rPr lang="en-US" sz="1400" b="0" i="0" u="none" strike="noStrike" dirty="0">
                <a:solidFill>
                  <a:srgbClr val="646464"/>
                </a:solidFill>
                <a:latin typeface="Open Sans"/>
                <a:ea typeface="Open Sans"/>
                <a:cs typeface="Open Sans"/>
                <a:sym typeface="Open Sans"/>
              </a:rPr>
              <a:t>to validates user data for logical consistency.</a:t>
            </a:r>
          </a:p>
        </p:txBody>
      </p:sp>
      <p:sp>
        <p:nvSpPr>
          <p:cNvPr id="6" name="AutoShape 6"/>
          <p:cNvSpPr/>
          <p:nvPr/>
        </p:nvSpPr>
        <p:spPr>
          <a:xfrm>
            <a:off x="3499805" y="3675369"/>
            <a:ext cx="2454584" cy="2452824"/>
          </a:xfrm>
          <a:prstGeom prst="roundRect">
            <a:avLst>
              <a:gd name="adj" fmla="val 4142"/>
            </a:avLst>
          </a:prstGeom>
          <a:solidFill>
            <a:srgbClr val="F0F0F0">
              <a:alpha val="100000"/>
            </a:srgbClr>
          </a:solidFill>
          <a:ln w="25400" cap="flat" cmpd="sng">
            <a:noFill/>
            <a:prstDash val="solid"/>
            <a:round/>
          </a:ln>
        </p:spPr>
        <p:txBody>
          <a:bodyPr vert="horz" wrap="square" lIns="0" tIns="0" rIns="0" bIns="0" rtlCol="0" anchor="ctr" anchorCtr="0">
            <a:normAutofit/>
          </a:bodyPr>
          <a:lstStyle/>
          <a:p>
            <a:pPr algn="ctr">
              <a:defRPr/>
            </a:pPr>
            <a:endParaRPr/>
          </a:p>
        </p:txBody>
      </p:sp>
      <p:sp>
        <p:nvSpPr>
          <p:cNvPr id="7" name="AutoShape 7"/>
          <p:cNvSpPr/>
          <p:nvPr/>
        </p:nvSpPr>
        <p:spPr>
          <a:xfrm>
            <a:off x="3688619" y="3947905"/>
            <a:ext cx="2076956" cy="1907752"/>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1600" b="1" i="0" u="none" strike="noStrike" dirty="0">
                <a:solidFill>
                  <a:srgbClr val="F76B15"/>
                </a:solidFill>
                <a:latin typeface="Merriweather"/>
                <a:ea typeface="Merriweather"/>
                <a:cs typeface="Merriweather"/>
                <a:sym typeface="Merriweather"/>
              </a:rPr>
              <a:t>to implement an algorithm</a:t>
            </a:r>
          </a:p>
          <a:p>
            <a:pPr indent="0" algn="l">
              <a:lnSpc>
                <a:spcPct val="125000"/>
              </a:lnSpc>
            </a:pPr>
            <a:r>
              <a:rPr lang="en-US" sz="1400" b="0" i="0" u="none" strike="noStrike" dirty="0">
                <a:solidFill>
                  <a:srgbClr val="646464"/>
                </a:solidFill>
                <a:latin typeface="Open Sans"/>
                <a:ea typeface="Open Sans"/>
                <a:cs typeface="Open Sans"/>
                <a:sym typeface="Open Sans"/>
              </a:rPr>
              <a:t>to accurately calculate borrowing duration between any two dates.</a:t>
            </a:r>
          </a:p>
        </p:txBody>
      </p:sp>
      <p:sp>
        <p:nvSpPr>
          <p:cNvPr id="8" name="AutoShape 8"/>
          <p:cNvSpPr/>
          <p:nvPr/>
        </p:nvSpPr>
        <p:spPr>
          <a:xfrm>
            <a:off x="6237611" y="3675369"/>
            <a:ext cx="2454584" cy="2452824"/>
          </a:xfrm>
          <a:prstGeom prst="roundRect">
            <a:avLst>
              <a:gd name="adj" fmla="val 4142"/>
            </a:avLst>
          </a:prstGeom>
          <a:solidFill>
            <a:srgbClr val="F0F0F0">
              <a:alpha val="100000"/>
            </a:srgbClr>
          </a:solidFill>
          <a:ln w="25400" cap="flat" cmpd="sng">
            <a:noFill/>
            <a:prstDash val="solid"/>
            <a:round/>
          </a:ln>
        </p:spPr>
        <p:txBody>
          <a:bodyPr vert="horz" wrap="square" lIns="0" tIns="0" rIns="0" bIns="0" rtlCol="0" anchor="ctr" anchorCtr="0">
            <a:normAutofit/>
          </a:bodyPr>
          <a:lstStyle/>
          <a:p>
            <a:pPr algn="ctr">
              <a:defRPr/>
            </a:pPr>
            <a:endParaRPr/>
          </a:p>
        </p:txBody>
      </p:sp>
      <p:sp>
        <p:nvSpPr>
          <p:cNvPr id="9" name="AutoShape 9"/>
          <p:cNvSpPr/>
          <p:nvPr/>
        </p:nvSpPr>
        <p:spPr>
          <a:xfrm>
            <a:off x="6426425" y="3947905"/>
            <a:ext cx="2076956" cy="1907752"/>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08333"/>
              </a:lnSpc>
              <a:defRPr/>
            </a:pPr>
            <a:r>
              <a:rPr lang="en-US" sz="1600" b="1" i="0" u="none" strike="noStrike">
                <a:solidFill>
                  <a:srgbClr val="0090FF"/>
                </a:solidFill>
                <a:latin typeface="Merriweather"/>
                <a:ea typeface="Merriweather"/>
                <a:cs typeface="Merriweather"/>
                <a:sym typeface="Merriweather"/>
              </a:rPr>
              <a:t>to automate status tracking</a:t>
            </a:r>
            <a:endParaRPr lang="en-US" sz="1100"/>
          </a:p>
          <a:p>
            <a:pPr indent="0" algn="l">
              <a:lnSpc>
                <a:spcPct val="108333"/>
              </a:lnSpc>
            </a:pPr>
            <a:r>
              <a:rPr lang="en-US" sz="1400" b="0" i="0" u="none" strike="noStrike">
                <a:solidFill>
                  <a:srgbClr val="646464"/>
                </a:solidFill>
                <a:latin typeface="Open Sans"/>
                <a:ea typeface="Open Sans"/>
                <a:cs typeface="Open Sans"/>
                <a:sym typeface="Open Sans"/>
              </a:rPr>
              <a:t>by comparing duration against the 7-day limit.</a:t>
            </a:r>
          </a:p>
        </p:txBody>
      </p:sp>
      <p:sp>
        <p:nvSpPr>
          <p:cNvPr id="10" name="AutoShape 10"/>
          <p:cNvSpPr/>
          <p:nvPr/>
        </p:nvSpPr>
        <p:spPr>
          <a:xfrm>
            <a:off x="8975416" y="3675369"/>
            <a:ext cx="2454584" cy="2452824"/>
          </a:xfrm>
          <a:prstGeom prst="roundRect">
            <a:avLst>
              <a:gd name="adj" fmla="val 4142"/>
            </a:avLst>
          </a:prstGeom>
          <a:solidFill>
            <a:srgbClr val="F0F0F0">
              <a:alpha val="100000"/>
            </a:srgbClr>
          </a:solidFill>
          <a:ln w="25400" cap="flat" cmpd="sng">
            <a:noFill/>
            <a:prstDash val="solid"/>
            <a:round/>
          </a:ln>
        </p:spPr>
        <p:txBody>
          <a:bodyPr vert="horz" wrap="square" lIns="0" tIns="0" rIns="0" bIns="0" rtlCol="0" anchor="ctr" anchorCtr="0">
            <a:normAutofit/>
          </a:bodyPr>
          <a:lstStyle/>
          <a:p>
            <a:pPr algn="ctr">
              <a:defRPr/>
            </a:pPr>
            <a:endParaRPr/>
          </a:p>
        </p:txBody>
      </p:sp>
      <p:sp>
        <p:nvSpPr>
          <p:cNvPr id="11" name="AutoShape 11"/>
          <p:cNvSpPr/>
          <p:nvPr/>
        </p:nvSpPr>
        <p:spPr>
          <a:xfrm>
            <a:off x="9164230" y="3947905"/>
            <a:ext cx="2076956" cy="1907752"/>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1600" b="1" i="0" u="none" strike="noStrike">
                <a:solidFill>
                  <a:srgbClr val="F98E8B"/>
                </a:solidFill>
                <a:latin typeface="Merriweather"/>
                <a:ea typeface="Merriweather"/>
                <a:cs typeface="Merriweather"/>
                <a:sym typeface="Merriweather"/>
              </a:rPr>
              <a:t>to compute penalties automatically </a:t>
            </a:r>
            <a:endParaRPr lang="en-US" sz="1100"/>
          </a:p>
          <a:p>
            <a:pPr indent="0" algn="l">
              <a:lnSpc>
                <a:spcPct val="125000"/>
              </a:lnSpc>
            </a:pPr>
            <a:r>
              <a:rPr lang="en-US" sz="1400" b="0" i="0" u="none" strike="noStrike">
                <a:solidFill>
                  <a:srgbClr val="646464"/>
                </a:solidFill>
                <a:latin typeface="Open Sans"/>
                <a:ea typeface="Open Sans"/>
                <a:cs typeface="Open Sans"/>
                <a:sym typeface="Open Sans"/>
              </a:rPr>
              <a:t>for an organized final bill.</a:t>
            </a:r>
          </a:p>
        </p:txBody>
      </p:sp>
      <p:sp>
        <p:nvSpPr>
          <p:cNvPr id="12" name="AutoShape 12"/>
          <p:cNvSpPr/>
          <p:nvPr/>
        </p:nvSpPr>
        <p:spPr>
          <a:xfrm>
            <a:off x="762000" y="3084491"/>
            <a:ext cx="2209800" cy="381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1900" b="1" i="0" u="none" strike="noStrike" dirty="0">
                <a:solidFill>
                  <a:srgbClr val="1F2329"/>
                </a:solidFill>
                <a:latin typeface="Merriweather"/>
                <a:ea typeface="Merriweather"/>
                <a:cs typeface="Merriweather"/>
                <a:sym typeface="Merriweather"/>
              </a:rPr>
              <a:t>Our objectives are:</a:t>
            </a:r>
            <a:endParaRPr lang="en-US" sz="1100" dirty="0"/>
          </a:p>
        </p:txBody>
      </p:sp>
      <p:sp>
        <p:nvSpPr>
          <p:cNvPr id="16" name="TextBox 15">
            <a:extLst>
              <a:ext uri="{FF2B5EF4-FFF2-40B4-BE49-F238E27FC236}">
                <a16:creationId xmlns:a16="http://schemas.microsoft.com/office/drawing/2014/main" id="{42D08608-E3F6-C341-8080-EBFF7FC73863}"/>
              </a:ext>
            </a:extLst>
          </p:cNvPr>
          <p:cNvSpPr txBox="1"/>
          <p:nvPr/>
        </p:nvSpPr>
        <p:spPr>
          <a:xfrm>
            <a:off x="667996" y="2152812"/>
            <a:ext cx="8384136" cy="795411"/>
          </a:xfrm>
          <a:prstGeom prst="rect">
            <a:avLst/>
          </a:prstGeom>
          <a:noFill/>
        </p:spPr>
        <p:txBody>
          <a:bodyPr wrap="square">
            <a:spAutoFit/>
          </a:bodyPr>
          <a:lstStyle/>
          <a:p>
            <a:pPr indent="0" algn="l">
              <a:lnSpc>
                <a:spcPct val="125000"/>
              </a:lnSpc>
            </a:pPr>
            <a:r>
              <a:rPr lang="en-US" sz="1900" b="0" i="0" u="none" strike="noStrike" dirty="0">
                <a:solidFill>
                  <a:srgbClr val="1F2329"/>
                </a:solidFill>
                <a:latin typeface="Merriweather"/>
                <a:ea typeface="Merriweather"/>
                <a:cs typeface="Merriweather"/>
                <a:sym typeface="Merriweather"/>
              </a:rPr>
              <a:t>Our goal is to organize input data efficiently and automate overdue fine calculations.</a:t>
            </a: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C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762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3600" b="1" i="0" u="none" strike="noStrike">
                <a:solidFill>
                  <a:srgbClr val="3A5BC7"/>
                </a:solidFill>
                <a:latin typeface="Merriweather"/>
                <a:ea typeface="Merriweather"/>
                <a:cs typeface="Merriweather"/>
                <a:sym typeface="Merriweather"/>
              </a:rPr>
              <a:t>System Design (IPO)</a:t>
            </a:r>
            <a:endParaRPr lang="en-US" sz="1100"/>
          </a:p>
        </p:txBody>
      </p:sp>
      <p:sp>
        <p:nvSpPr>
          <p:cNvPr id="3" name="AutoShape 3"/>
          <p:cNvSpPr/>
          <p:nvPr/>
        </p:nvSpPr>
        <p:spPr>
          <a:xfrm>
            <a:off x="762000" y="1524000"/>
            <a:ext cx="10668000" cy="508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1800" b="0" i="1" u="none" strike="noStrike">
                <a:solidFill>
                  <a:srgbClr val="646464"/>
                </a:solidFill>
                <a:latin typeface="Merriweather"/>
                <a:ea typeface="Merriweather"/>
                <a:cs typeface="Merriweather"/>
                <a:sym typeface="Merriweather"/>
              </a:rPr>
              <a:t>Following objectives, we outline the system’s Input–Process–Output design</a:t>
            </a:r>
            <a:endParaRPr lang="en-US" sz="1100"/>
          </a:p>
        </p:txBody>
      </p:sp>
      <p:sp>
        <p:nvSpPr>
          <p:cNvPr id="4" name="AutoShape 4"/>
          <p:cNvSpPr/>
          <p:nvPr/>
        </p:nvSpPr>
        <p:spPr>
          <a:xfrm>
            <a:off x="762000" y="2286000"/>
            <a:ext cx="3175000" cy="4064000"/>
          </a:xfrm>
          <a:prstGeom prst="roundRect">
            <a:avLst>
              <a:gd name="adj" fmla="val 3200"/>
            </a:avLst>
          </a:prstGeom>
          <a:solidFill>
            <a:srgbClr val="F0F0F0">
              <a:alpha val="100000"/>
            </a:srgbClr>
          </a:solidFill>
          <a:ln w="25400" cap="flat" cmpd="sng">
            <a:noFill/>
            <a:prstDash val="solid"/>
            <a:round/>
          </a:ln>
        </p:spPr>
        <p:txBody>
          <a:bodyPr vert="horz" wrap="square" lIns="254000" tIns="254000" rIns="254000" bIns="254000" rtlCol="0" anchor="t" anchorCtr="0">
            <a:normAutofit/>
          </a:bodyPr>
          <a:lstStyle/>
          <a:p>
            <a:pPr indent="0" algn="ctr">
              <a:lnSpc>
                <a:spcPct val="125000"/>
              </a:lnSpc>
              <a:defRPr/>
            </a:pPr>
            <a:r>
              <a:rPr lang="en-US" sz="2000" b="1" i="0" u="none" strike="noStrike">
                <a:solidFill>
                  <a:srgbClr val="3A5BC7"/>
                </a:solidFill>
                <a:latin typeface="Merriweather"/>
                <a:ea typeface="Merriweather"/>
                <a:cs typeface="Merriweather"/>
                <a:sym typeface="Merriweather"/>
              </a:rPr>
              <a:t>Input</a:t>
            </a:r>
            <a:endParaRPr lang="en-US" sz="1100"/>
          </a:p>
          <a:p>
            <a:pPr marL="177800" indent="-177800" algn="l">
              <a:lnSpc>
                <a:spcPct val="125000"/>
              </a:lnSpc>
              <a:buClr>
                <a:srgbClr val="1F2329"/>
              </a:buClr>
              <a:buChar char="•"/>
            </a:pPr>
            <a:r>
              <a:rPr lang="en-US" sz="1400" b="0" i="0" u="none" strike="noStrike">
                <a:solidFill>
                  <a:srgbClr val="1F2329"/>
                </a:solidFill>
                <a:latin typeface="Open Sans"/>
                <a:ea typeface="Open Sans"/>
                <a:cs typeface="Open Sans"/>
                <a:sym typeface="Open Sans"/>
              </a:rPr>
              <a:t>Customer Name and Number of Books</a:t>
            </a:r>
          </a:p>
          <a:p>
            <a:pPr marL="177800" indent="-177800" algn="l">
              <a:lnSpc>
                <a:spcPct val="125000"/>
              </a:lnSpc>
              <a:buClr>
                <a:srgbClr val="1F2329"/>
              </a:buClr>
              <a:buChar char="•"/>
            </a:pPr>
            <a:r>
              <a:rPr lang="en-US" sz="1400" b="0" i="0" u="none" strike="noStrike">
                <a:solidFill>
                  <a:srgbClr val="1F2329"/>
                </a:solidFill>
                <a:latin typeface="Open Sans"/>
                <a:ea typeface="Open Sans"/>
                <a:cs typeface="Open Sans"/>
                <a:sym typeface="Open Sans"/>
              </a:rPr>
              <a:t>Book Title, Borrow Date, and Return Date</a:t>
            </a:r>
          </a:p>
        </p:txBody>
      </p:sp>
      <p:cxnSp>
        <p:nvCxnSpPr>
          <p:cNvPr id="5" name="Connector 5"/>
          <p:cNvCxnSpPr/>
          <p:nvPr/>
        </p:nvCxnSpPr>
        <p:spPr>
          <a:xfrm rot="-98154">
            <a:off x="3999321" y="4311650"/>
            <a:ext cx="444681" cy="12700"/>
          </a:xfrm>
          <a:prstGeom prst="straightConnector1">
            <a:avLst/>
          </a:prstGeom>
          <a:solidFill>
            <a:srgbClr val="DEE0E3">
              <a:alpha val="100000"/>
            </a:srgbClr>
          </a:solidFill>
          <a:ln w="38100" cap="flat" cmpd="sng">
            <a:solidFill>
              <a:srgbClr val="646464">
                <a:alpha val="100000"/>
              </a:srgbClr>
            </a:solidFill>
            <a:prstDash val="solid"/>
            <a:miter lim="8000000"/>
            <a:headEnd type="none" w="lg" len="lg"/>
            <a:tailEnd type="arrow" w="med" len="med"/>
          </a:ln>
        </p:spPr>
      </p:cxnSp>
      <p:sp>
        <p:nvSpPr>
          <p:cNvPr id="6" name="AutoShape 6"/>
          <p:cNvSpPr/>
          <p:nvPr/>
        </p:nvSpPr>
        <p:spPr>
          <a:xfrm>
            <a:off x="4508500" y="2286000"/>
            <a:ext cx="3175000" cy="4064000"/>
          </a:xfrm>
          <a:prstGeom prst="roundRect">
            <a:avLst>
              <a:gd name="adj" fmla="val 3200"/>
            </a:avLst>
          </a:prstGeom>
          <a:solidFill>
            <a:srgbClr val="F0F0F0">
              <a:alpha val="100000"/>
            </a:srgbClr>
          </a:solidFill>
          <a:ln w="25400" cap="flat" cmpd="sng">
            <a:noFill/>
            <a:prstDash val="solid"/>
            <a:round/>
          </a:ln>
        </p:spPr>
        <p:txBody>
          <a:bodyPr vert="horz" wrap="square" lIns="254000" tIns="254000" rIns="254000" bIns="254000" rtlCol="0" anchor="t" anchorCtr="0">
            <a:normAutofit/>
          </a:bodyPr>
          <a:lstStyle/>
          <a:p>
            <a:pPr indent="0" algn="ctr">
              <a:lnSpc>
                <a:spcPct val="125000"/>
              </a:lnSpc>
              <a:defRPr/>
            </a:pPr>
            <a:r>
              <a:rPr lang="en-US" sz="2000" b="1" i="0" u="none" strike="noStrike">
                <a:solidFill>
                  <a:srgbClr val="3A5BC7"/>
                </a:solidFill>
                <a:latin typeface="Merriweather"/>
                <a:ea typeface="Merriweather"/>
                <a:cs typeface="Merriweather"/>
                <a:sym typeface="Merriweather"/>
              </a:rPr>
              <a:t>Process</a:t>
            </a:r>
            <a:endParaRPr lang="en-US" sz="1100"/>
          </a:p>
          <a:p>
            <a:pPr marL="177800" indent="-177800" algn="l">
              <a:lnSpc>
                <a:spcPct val="125000"/>
              </a:lnSpc>
              <a:buClr>
                <a:srgbClr val="1F2329"/>
              </a:buClr>
              <a:buChar char="•"/>
            </a:pPr>
            <a:r>
              <a:rPr lang="en-US" sz="1400" b="1" i="0" u="none" strike="noStrike">
                <a:solidFill>
                  <a:srgbClr val="1F2329"/>
                </a:solidFill>
                <a:latin typeface="Open Sans"/>
                <a:ea typeface="Open Sans"/>
                <a:cs typeface="Open Sans"/>
                <a:sym typeface="Open Sans"/>
              </a:rPr>
              <a:t>Validation:</a:t>
            </a:r>
            <a:r>
              <a:rPr lang="en-US" sz="1400" b="0" i="0" u="none" strike="noStrike">
                <a:solidFill>
                  <a:srgbClr val="1F2329"/>
                </a:solidFill>
                <a:latin typeface="Open Sans"/>
                <a:ea typeface="Open Sans"/>
                <a:cs typeface="Open Sans"/>
                <a:sym typeface="Open Sans"/>
              </a:rPr>
              <a:t> Check for valid dates and integers</a:t>
            </a:r>
          </a:p>
          <a:p>
            <a:pPr marL="177800" indent="-177800" algn="l">
              <a:lnSpc>
                <a:spcPct val="125000"/>
              </a:lnSpc>
              <a:buClr>
                <a:srgbClr val="1F2329"/>
              </a:buClr>
              <a:buChar char="•"/>
            </a:pPr>
            <a:r>
              <a:rPr lang="en-US" sz="1400" b="1" i="0" u="none" strike="noStrike">
                <a:solidFill>
                  <a:srgbClr val="1F2329"/>
                </a:solidFill>
                <a:latin typeface="Open Sans"/>
                <a:ea typeface="Open Sans"/>
                <a:cs typeface="Open Sans"/>
                <a:sym typeface="Open Sans"/>
              </a:rPr>
              <a:t>Logic:</a:t>
            </a:r>
            <a:r>
              <a:rPr lang="en-US" sz="1400" b="0" i="0" u="none" strike="noStrike">
                <a:solidFill>
                  <a:srgbClr val="1F2329"/>
                </a:solidFill>
                <a:latin typeface="Open Sans"/>
                <a:ea typeface="Open Sans"/>
                <a:cs typeface="Open Sans"/>
                <a:sym typeface="Open Sans"/>
              </a:rPr>
              <a:t> Calculate Duration (Return − Borrow) and Overdue Days (Duration − 7)</a:t>
            </a:r>
          </a:p>
          <a:p>
            <a:pPr marL="177800" indent="-177800" algn="l">
              <a:lnSpc>
                <a:spcPct val="125000"/>
              </a:lnSpc>
              <a:buClr>
                <a:srgbClr val="1F2329"/>
              </a:buClr>
              <a:buChar char="•"/>
            </a:pPr>
            <a:r>
              <a:rPr lang="en-US" sz="1400" b="1" i="0" u="none" strike="noStrike">
                <a:solidFill>
                  <a:srgbClr val="1F2329"/>
                </a:solidFill>
                <a:latin typeface="Open Sans"/>
                <a:ea typeface="Open Sans"/>
                <a:cs typeface="Open Sans"/>
                <a:sym typeface="Open Sans"/>
              </a:rPr>
              <a:t>Calculation:</a:t>
            </a:r>
            <a:r>
              <a:rPr lang="en-US" sz="1400" b="0" i="0" u="none" strike="noStrike">
                <a:solidFill>
                  <a:srgbClr val="1F2329"/>
                </a:solidFill>
                <a:latin typeface="Open Sans"/>
                <a:ea typeface="Open Sans"/>
                <a:cs typeface="Open Sans"/>
                <a:sym typeface="Open Sans"/>
              </a:rPr>
              <a:t> Multiply Overdue Days by Fine Rate</a:t>
            </a:r>
          </a:p>
        </p:txBody>
      </p:sp>
      <p:cxnSp>
        <p:nvCxnSpPr>
          <p:cNvPr id="7" name="Connector 7"/>
          <p:cNvCxnSpPr/>
          <p:nvPr/>
        </p:nvCxnSpPr>
        <p:spPr>
          <a:xfrm rot="-98154">
            <a:off x="7745821" y="4311650"/>
            <a:ext cx="444681" cy="12700"/>
          </a:xfrm>
          <a:prstGeom prst="straightConnector1">
            <a:avLst/>
          </a:prstGeom>
          <a:solidFill>
            <a:srgbClr val="DEE0E3">
              <a:alpha val="100000"/>
            </a:srgbClr>
          </a:solidFill>
          <a:ln w="38100" cap="flat" cmpd="sng">
            <a:solidFill>
              <a:srgbClr val="646464">
                <a:alpha val="100000"/>
              </a:srgbClr>
            </a:solidFill>
            <a:prstDash val="solid"/>
            <a:miter lim="8000000"/>
            <a:headEnd type="none" w="lg" len="lg"/>
            <a:tailEnd type="arrow" w="med" len="med"/>
          </a:ln>
        </p:spPr>
      </p:cxnSp>
      <p:sp>
        <p:nvSpPr>
          <p:cNvPr id="8" name="AutoShape 8"/>
          <p:cNvSpPr/>
          <p:nvPr/>
        </p:nvSpPr>
        <p:spPr>
          <a:xfrm>
            <a:off x="8255000" y="2286000"/>
            <a:ext cx="3175000" cy="4064000"/>
          </a:xfrm>
          <a:prstGeom prst="roundRect">
            <a:avLst>
              <a:gd name="adj" fmla="val 3200"/>
            </a:avLst>
          </a:prstGeom>
          <a:solidFill>
            <a:srgbClr val="F0F0F0">
              <a:alpha val="100000"/>
            </a:srgbClr>
          </a:solidFill>
          <a:ln w="25400" cap="flat" cmpd="sng">
            <a:noFill/>
            <a:prstDash val="solid"/>
            <a:round/>
          </a:ln>
        </p:spPr>
        <p:txBody>
          <a:bodyPr vert="horz" wrap="square" lIns="254000" tIns="254000" rIns="254000" bIns="254000" rtlCol="0" anchor="t" anchorCtr="0">
            <a:normAutofit/>
          </a:bodyPr>
          <a:lstStyle/>
          <a:p>
            <a:pPr indent="0" algn="ctr">
              <a:lnSpc>
                <a:spcPct val="125000"/>
              </a:lnSpc>
              <a:defRPr/>
            </a:pPr>
            <a:r>
              <a:rPr lang="en-US" sz="2000" b="1" i="0" u="none" strike="noStrike">
                <a:solidFill>
                  <a:srgbClr val="3A5BC7"/>
                </a:solidFill>
                <a:latin typeface="Merriweather"/>
                <a:ea typeface="Merriweather"/>
                <a:cs typeface="Merriweather"/>
                <a:sym typeface="Merriweather"/>
              </a:rPr>
              <a:t>Output</a:t>
            </a:r>
            <a:endParaRPr lang="en-US" sz="1100"/>
          </a:p>
          <a:p>
            <a:pPr marL="177800" indent="-177800" algn="l">
              <a:lnSpc>
                <a:spcPct val="125000"/>
              </a:lnSpc>
              <a:buClr>
                <a:srgbClr val="1F2329"/>
              </a:buClr>
              <a:buChar char="•"/>
            </a:pPr>
            <a:r>
              <a:rPr lang="en-US" sz="1400" b="0" i="0" u="none" strike="noStrike">
                <a:solidFill>
                  <a:srgbClr val="1F2329"/>
                </a:solidFill>
                <a:latin typeface="Open Sans"/>
                <a:ea typeface="Open Sans"/>
                <a:cs typeface="Open Sans"/>
                <a:sym typeface="Open Sans"/>
              </a:rPr>
              <a:t>Borrowing Summary with Status (</a:t>
            </a:r>
            <a:r>
              <a:rPr lang="en-US" sz="1400" b="1" i="0" u="none" strike="noStrike">
                <a:solidFill>
                  <a:srgbClr val="1F2329"/>
                </a:solidFill>
                <a:latin typeface="Open Sans"/>
                <a:ea typeface="Open Sans"/>
                <a:cs typeface="Open Sans"/>
                <a:sym typeface="Open Sans"/>
              </a:rPr>
              <a:t>[ON TIME]</a:t>
            </a:r>
            <a:r>
              <a:rPr lang="en-US" sz="1400" b="0" i="0" u="none" strike="noStrike">
                <a:solidFill>
                  <a:srgbClr val="1F2329"/>
                </a:solidFill>
                <a:latin typeface="Open Sans"/>
                <a:ea typeface="Open Sans"/>
                <a:cs typeface="Open Sans"/>
                <a:sym typeface="Open Sans"/>
              </a:rPr>
              <a:t> or </a:t>
            </a:r>
            <a:r>
              <a:rPr lang="en-US" sz="1400" b="1" i="0" u="none" strike="noStrike">
                <a:solidFill>
                  <a:srgbClr val="1F2329"/>
                </a:solidFill>
                <a:latin typeface="Open Sans"/>
                <a:ea typeface="Open Sans"/>
                <a:cs typeface="Open Sans"/>
                <a:sym typeface="Open Sans"/>
              </a:rPr>
              <a:t>[OVERDUE]</a:t>
            </a:r>
            <a:r>
              <a:rPr lang="en-US" sz="1400" b="0" i="0" u="none" strike="noStrike">
                <a:solidFill>
                  <a:srgbClr val="1F2329"/>
                </a:solidFill>
                <a:latin typeface="Open Sans"/>
                <a:ea typeface="Open Sans"/>
                <a:cs typeface="Open Sans"/>
                <a:sym typeface="Open Sans"/>
              </a:rPr>
              <a:t>)</a:t>
            </a:r>
          </a:p>
          <a:p>
            <a:pPr marL="177800" indent="-177800" algn="l">
              <a:lnSpc>
                <a:spcPct val="125000"/>
              </a:lnSpc>
              <a:buClr>
                <a:srgbClr val="1F2329"/>
              </a:buClr>
              <a:buChar char="•"/>
            </a:pPr>
            <a:r>
              <a:rPr lang="en-US" sz="1400" b="0" i="0" u="none" strike="noStrike">
                <a:solidFill>
                  <a:srgbClr val="1F2329"/>
                </a:solidFill>
                <a:latin typeface="Open Sans"/>
                <a:ea typeface="Open Sans"/>
                <a:cs typeface="Open Sans"/>
                <a:sym typeface="Open Sans"/>
              </a:rPr>
              <a:t>Final "Total Fine to Pay"</a:t>
            </a: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C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762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3600" b="1" i="0" u="none" strike="noStrike">
                <a:solidFill>
                  <a:srgbClr val="3A5BC7"/>
                </a:solidFill>
                <a:latin typeface="Merriweather"/>
                <a:ea typeface="Merriweather"/>
                <a:cs typeface="Merriweather"/>
                <a:sym typeface="Merriweather"/>
              </a:rPr>
              <a:t>Flowchart</a:t>
            </a:r>
            <a:endParaRPr lang="en-US" sz="1100"/>
          </a:p>
        </p:txBody>
      </p:sp>
      <p:sp>
        <p:nvSpPr>
          <p:cNvPr id="3" name="AutoShape 3"/>
          <p:cNvSpPr/>
          <p:nvPr/>
        </p:nvSpPr>
        <p:spPr>
          <a:xfrm>
            <a:off x="762000" y="1397000"/>
            <a:ext cx="10668000" cy="635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1800" b="0" i="1" u="none" strike="noStrike">
                <a:solidFill>
                  <a:srgbClr val="646464"/>
                </a:solidFill>
                <a:latin typeface="Merriweather"/>
                <a:ea typeface="Merriweather"/>
                <a:cs typeface="Merriweather"/>
                <a:sym typeface="Merriweather"/>
              </a:rPr>
              <a:t>This flowchart shows the stages for the Book Borrowing System.</a:t>
            </a:r>
            <a:endParaRPr lang="en-US" sz="1100"/>
          </a:p>
        </p:txBody>
      </p:sp>
      <p:sp>
        <p:nvSpPr>
          <p:cNvPr id="4" name="AutoShape 4"/>
          <p:cNvSpPr/>
          <p:nvPr/>
        </p:nvSpPr>
        <p:spPr>
          <a:xfrm>
            <a:off x="762000" y="6527800"/>
            <a:ext cx="10668000" cy="381000"/>
          </a:xfrm>
          <a:prstGeom prst="rect">
            <a:avLst/>
          </a:prstGeom>
          <a:noFill/>
          <a:ln w="12700" cap="flat" cmpd="sng">
            <a:noFill/>
            <a:prstDash val="solid"/>
            <a:round/>
          </a:ln>
        </p:spPr>
        <p:txBody>
          <a:bodyPr vert="horz" wrap="square" lIns="0" tIns="0" rIns="0" bIns="0" rtlCol="0" anchor="t" anchorCtr="0">
            <a:normAutofit/>
          </a:bodyPr>
          <a:lstStyle/>
          <a:p>
            <a:pPr indent="0" algn="ctr">
              <a:lnSpc>
                <a:spcPct val="125000"/>
              </a:lnSpc>
              <a:defRPr/>
            </a:pPr>
            <a:r>
              <a:rPr lang="en-US" sz="1200" b="0" i="0" u="none" strike="noStrike">
                <a:solidFill>
                  <a:srgbClr val="838383"/>
                </a:solidFill>
                <a:latin typeface="Open Sans"/>
                <a:ea typeface="Open Sans"/>
                <a:cs typeface="Open Sans"/>
                <a:sym typeface="Open Sans"/>
              </a:rPr>
              <a:t>Program Flowchart: Input validation → Borrow/Return loops → Processing → Summary &amp; totals</a:t>
            </a:r>
            <a:endParaRPr lang="en-US" sz="1100"/>
          </a:p>
        </p:txBody>
      </p:sp>
      <p:pic>
        <p:nvPicPr>
          <p:cNvPr id="5" name="Picture 5"/>
          <p:cNvPicPr>
            <a:picLocks noChangeAspect="1"/>
          </p:cNvPicPr>
          <p:nvPr/>
        </p:nvPicPr>
        <p:blipFill>
          <a:blip r:embed="rId3"/>
          <a:srcRect/>
          <a:stretch>
            <a:fillRect/>
          </a:stretch>
        </p:blipFill>
        <p:spPr>
          <a:xfrm>
            <a:off x="1376400" y="1826300"/>
            <a:ext cx="9439199" cy="4650700"/>
          </a:xfrm>
          <a:prstGeom prst="rect">
            <a:avLst/>
          </a:prstGeom>
          <a:noFill/>
          <a:ln w="25400" cap="flat" cmpd="sng">
            <a:noFill/>
            <a:prstDash val="solid"/>
            <a:round/>
          </a:ln>
        </p:spPr>
      </p:pic>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C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ect">
            <a:avLst/>
          </a:prstGeom>
          <a:noFill/>
          <a:ln w="12700" cap="flat" cmpd="sng">
            <a:noFill/>
            <a:prstDash val="solid"/>
            <a:round/>
          </a:ln>
        </p:spPr>
        <p:txBody>
          <a:bodyPr vert="horz" wrap="square" lIns="0" tIns="0" rIns="0" bIns="0" rtlCol="0" anchor="ctr" anchorCtr="0">
            <a:normAutofit/>
          </a:bodyPr>
          <a:lstStyle/>
          <a:p>
            <a:pPr indent="0" algn="ctr">
              <a:lnSpc>
                <a:spcPct val="125000"/>
              </a:lnSpc>
              <a:defRPr/>
            </a:pPr>
            <a:r>
              <a:rPr lang="en-US" sz="4200" b="1" i="0" u="none" strike="noStrike">
                <a:solidFill>
                  <a:srgbClr val="3A5BC7"/>
                </a:solidFill>
                <a:latin typeface="Merriweather"/>
                <a:ea typeface="Merriweather"/>
                <a:cs typeface="Merriweather"/>
                <a:sym typeface="Merriweather"/>
              </a:rPr>
              <a:t>SOURCE CODE REVIEW &amp; DEMO</a:t>
            </a:r>
            <a:endParaRPr lang="en-US" sz="1100"/>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C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762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3600" b="1" i="0" u="none" strike="noStrike">
                <a:solidFill>
                  <a:srgbClr val="3A5BC7"/>
                </a:solidFill>
                <a:latin typeface="Merriweather"/>
                <a:ea typeface="Merriweather"/>
                <a:cs typeface="Merriweather"/>
                <a:sym typeface="Merriweather"/>
              </a:rPr>
              <a:t>Conclusion</a:t>
            </a:r>
            <a:endParaRPr lang="en-US" sz="1100"/>
          </a:p>
        </p:txBody>
      </p:sp>
      <p:sp>
        <p:nvSpPr>
          <p:cNvPr id="3" name="AutoShape 3"/>
          <p:cNvSpPr/>
          <p:nvPr/>
        </p:nvSpPr>
        <p:spPr>
          <a:xfrm>
            <a:off x="762000" y="1651000"/>
            <a:ext cx="5080000" cy="4191000"/>
          </a:xfrm>
          <a:prstGeom prst="rect">
            <a:avLst/>
          </a:prstGeom>
          <a:noFill/>
          <a:ln w="12700" cap="flat" cmpd="sng">
            <a:noFill/>
            <a:prstDash val="solid"/>
            <a:round/>
          </a:ln>
        </p:spPr>
        <p:txBody>
          <a:bodyPr vert="horz" wrap="square" lIns="0" tIns="0" rIns="0" bIns="0" rtlCol="0" anchor="t" anchorCtr="0">
            <a:normAutofit/>
          </a:bodyPr>
          <a:lstStyle/>
          <a:p>
            <a:pPr indent="0" algn="l">
              <a:lnSpc>
                <a:spcPct val="125000"/>
              </a:lnSpc>
              <a:defRPr/>
            </a:pPr>
            <a:r>
              <a:rPr lang="en-US" sz="1600" b="0" i="0" u="none" strike="noStrike">
                <a:solidFill>
                  <a:srgbClr val="1F2329"/>
                </a:solidFill>
                <a:latin typeface="Noto Sans SC"/>
                <a:ea typeface="Noto Sans SC"/>
                <a:cs typeface="Noto Sans SC"/>
                <a:sym typeface="Noto Sans SC"/>
              </a:rPr>
              <a:t>In conclusion, the Book Borrowing System has successfully achieved its primary objective of systematizing library transactions by transitioning from manual recording to a robust C++ application. Through the implementation of input validation and modular date algorithms, the system effectively resolves issues of human error, evidenced by its ability to handle complex scenarios like Leap Year calculations. Ultimately, the automation of overdue status tracking ensures that library policies are enforced fairly and efficiently, saving time for staff while providing a transparent and organized experience for customers.</a:t>
            </a:r>
            <a:endParaRPr lang="en-US" sz="1100"/>
          </a:p>
        </p:txBody>
      </p:sp>
      <p:sp>
        <p:nvSpPr>
          <p:cNvPr id="4" name="AutoShape 4"/>
          <p:cNvSpPr/>
          <p:nvPr/>
        </p:nvSpPr>
        <p:spPr>
          <a:xfrm>
            <a:off x="6350000" y="6010822"/>
            <a:ext cx="5080000" cy="508000"/>
          </a:xfrm>
          <a:prstGeom prst="rect">
            <a:avLst/>
          </a:prstGeom>
          <a:noFill/>
          <a:ln w="12700" cap="flat" cmpd="sng">
            <a:noFill/>
            <a:prstDash val="solid"/>
            <a:round/>
          </a:ln>
        </p:spPr>
        <p:txBody>
          <a:bodyPr vert="horz" wrap="square" lIns="0" tIns="0" rIns="0" bIns="0" rtlCol="0" anchor="t" anchorCtr="0">
            <a:normAutofit/>
          </a:bodyPr>
          <a:lstStyle/>
          <a:p>
            <a:pPr indent="0" algn="ctr">
              <a:lnSpc>
                <a:spcPct val="125000"/>
              </a:lnSpc>
              <a:defRPr/>
            </a:pPr>
            <a:r>
              <a:rPr lang="en-US" sz="1200" b="0" i="0" u="none" strike="noStrike">
                <a:solidFill>
                  <a:srgbClr val="838383"/>
                </a:solidFill>
                <a:latin typeface="Open Sans"/>
                <a:ea typeface="Open Sans"/>
                <a:cs typeface="Open Sans"/>
                <a:sym typeface="Open Sans"/>
              </a:rPr>
              <a:t>Figure 2: Book Borrowing System</a:t>
            </a:r>
            <a:endParaRPr lang="en-US" sz="1100"/>
          </a:p>
        </p:txBody>
      </p:sp>
      <p:pic>
        <p:nvPicPr>
          <p:cNvPr id="5" name="Picture 5"/>
          <p:cNvPicPr>
            <a:picLocks noChangeAspect="1"/>
          </p:cNvPicPr>
          <p:nvPr/>
        </p:nvPicPr>
        <p:blipFill>
          <a:blip r:embed="rId3"/>
          <a:stretch>
            <a:fillRect/>
          </a:stretch>
        </p:blipFill>
        <p:spPr>
          <a:xfrm>
            <a:off x="6931521" y="1407594"/>
            <a:ext cx="3916958" cy="4434406"/>
          </a:xfrm>
          <a:prstGeom prst="rect">
            <a:avLst/>
          </a:prstGeom>
          <a:ln>
            <a:noFill/>
            <a:prstDash val="solid"/>
          </a:ln>
        </p:spPr>
      </p:pic>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normAutofit/>
          </a:bodyPr>
          <a:lstStyle/>
          <a:p>
            <a:pPr algn="ctr">
              <a:defRPr/>
            </a:pPr>
            <a:endParaRPr/>
          </a:p>
        </p:txBody>
      </p:sp>
      <p:sp>
        <p:nvSpPr>
          <p:cNvPr id="3" name="AutoShape 3"/>
          <p:cNvSpPr/>
          <p:nvPr/>
        </p:nvSpPr>
        <p:spPr>
          <a:xfrm>
            <a:off x="0" y="2032000"/>
            <a:ext cx="12192000" cy="2794000"/>
          </a:xfrm>
          <a:prstGeom prst="rect">
            <a:avLst/>
          </a:prstGeom>
          <a:noFill/>
          <a:ln w="12700" cap="flat" cmpd="sng">
            <a:noFill/>
            <a:prstDash val="solid"/>
            <a:round/>
          </a:ln>
        </p:spPr>
        <p:txBody>
          <a:bodyPr vert="horz" wrap="square" lIns="0" tIns="0" rIns="0" bIns="0" rtlCol="0" anchor="ctr" anchorCtr="0">
            <a:normAutofit/>
          </a:bodyPr>
          <a:lstStyle/>
          <a:p>
            <a:pPr indent="0" algn="ctr">
              <a:lnSpc>
                <a:spcPct val="125000"/>
              </a:lnSpc>
              <a:defRPr/>
            </a:pPr>
            <a:r>
              <a:rPr lang="en-US" sz="3200" b="1" i="0" u="none" strike="noStrike">
                <a:solidFill>
                  <a:srgbClr val="FFFFFF">
                    <a:alpha val="90196"/>
                  </a:srgbClr>
                </a:solidFill>
                <a:latin typeface="Merriweather"/>
                <a:ea typeface="Merriweather"/>
                <a:cs typeface="Merriweather"/>
                <a:sym typeface="Merriweather"/>
              </a:rPr>
              <a:t>Thank You for Your Attention</a:t>
            </a:r>
            <a:endParaRPr lang="en-US" sz="1100"/>
          </a:p>
          <a:p>
            <a:pPr indent="0" algn="ctr">
              <a:lnSpc>
                <a:spcPct val="125000"/>
              </a:lnSpc>
            </a:pPr>
            <a:r>
              <a:rPr lang="en-US" sz="1800" b="0" i="0" u="none" strike="noStrike">
                <a:solidFill>
                  <a:srgbClr val="FFFFFF">
                    <a:alpha val="90196"/>
                  </a:srgbClr>
                </a:solidFill>
                <a:latin typeface="Open Sans"/>
                <a:ea typeface="Open Sans"/>
                <a:cs typeface="Open Sans"/>
                <a:sym typeface="Open Sans"/>
              </a:rPr>
              <a:t>We are now open for questions and feedback.</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911</Words>
  <Application>Microsoft Office PowerPoint</Application>
  <PresentationFormat>Widescreen</PresentationFormat>
  <Paragraphs>81</Paragraphs>
  <Slides>9</Slides>
  <Notes>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vt:i4>
      </vt:variant>
    </vt:vector>
  </HeadingPairs>
  <TitlesOfParts>
    <vt:vector size="15" baseType="lpstr">
      <vt:lpstr>Arial</vt:lpstr>
      <vt:lpstr>Merriweather</vt:lpstr>
      <vt:lpstr>Noto Sans SC</vt:lpstr>
      <vt:lpstr>Open Sans</vt:lpstr>
      <vt:lpstr>Office 主题​​</vt:lpstr>
      <vt:lpstr>默认主题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MUHAMMAD AJMAL ASYRAF BIN MOHD FARIF</cp:lastModifiedBy>
  <cp:revision>2</cp:revision>
  <dcterms:modified xsi:type="dcterms:W3CDTF">2026-01-14T21:18:46Z</dcterms:modified>
</cp:coreProperties>
</file>